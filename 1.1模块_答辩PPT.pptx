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4572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0104120" y="4572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515600" y="4572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27080" y="4572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338560" y="4572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1750040" y="457200"/>
            <a:ext cx="54864" cy="54864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面向云边协同场景的分布式 AI 感知与决策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模块：输出 Token 强制控制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模型运行时动态控制（RK3588 NPU 部署）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乔瑞浩 · 张倬铭     |     执行人层 L1     |     指导：姚俊杰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山东浪潮数据库技术有限公司 · 揭榜挂帅赛题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我们在整个系统中的位置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115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总架构：云边协同 AI 系统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810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内阁层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1460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姚俊杰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2560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926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档案馆层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14600" y="29443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+ 向量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36758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85800" y="4041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调度员层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14600" y="4059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韩乐瞳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94560" y="4791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3EA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992624"/>
            <a:ext cx="3931920" cy="9144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" y="5157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执行人层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14600" y="51755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 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645920"/>
            <a:ext cx="6675120" cy="2743200"/>
          </a:xfrm>
          <a:prstGeom prst="roundRect">
            <a:avLst>
              <a:gd name="adj" fmla="val 2000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0" y="18288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 输出 Token 控制 + 动态控制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22402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乔瑞浩 + 张倬铭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288036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KV Cache — 蒋嘉玺 + 郑澈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324612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 任务路由 — 韩乐瞳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12080" y="36118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 / 3.2 推理执行 — 张倬铭 / 蒋嘉玺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4663440"/>
            <a:ext cx="11183112" cy="1554480"/>
          </a:xfrm>
          <a:prstGeom prst="roundRect">
            <a:avLst>
              <a:gd name="adj" fmla="val 3529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我们是「语言警察」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31520" y="52578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所有上层请求最终都经过我们格式化输出：没有我们 → 模型输出无法解析；有我们 → 100% 干净的 JSON / Label / Diff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对接：调度员 2.1（韩乐瞳）→ 发来 prompt + schema → 我们返回干净 dict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大模型的「废话」问题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FF6F5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没有约束 — 模型自由输出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用户："检测结果怎么样？"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模型："好的，让我分析一下。根据摄像头数据，产品表面存在裂纹，面积约 12.5 平方毫米。因此，判断结果为：不合格。希望这个回答对你有帮助！"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⛔ 无法解析 · Token 浪费 · 下游崩溃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F1FAF5"/>
          </a:solidFill>
          <a:ln w="12700">
            <a:solidFill>
              <a:srgbClr val="2EA56D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有 1.1 模块 — 强制 JSON 输出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240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用户："检测结果怎么样？"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 模块：{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"defect_type": "crack",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"area_mm2": 12.5,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"quality": "defective"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4160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直接 json.loads() · Token -80% · 稳定对接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5074920"/>
            <a:ext cx="11183112" cy="1325880"/>
          </a:xfrm>
          <a:prstGeom prst="roundRect">
            <a:avLst>
              <a:gd name="adj" fmla="val 4138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核心技术：约束在生成阶段介入，不是生成后再删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outlines 的 generate.json() / generate.choice() 在模型逐 token 生成时，只放行符合 Schema 的 token —— 从第一个 token 到最后一个都在约束框架内，100% 可解析。后处理方案（生成→删废话→提取 JSON）做不到 100% 可靠。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 API 函数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115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接口统一 · 三个版本（WSL / Ollama / RK3588）完全一致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157984" cy="3017520"/>
          </a:xfrm>
          <a:prstGeom prst="roundRect">
            <a:avLst>
              <a:gd name="adj" fmla="val 2542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7512" y="17830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7512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 约束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prompt + dict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{"name":"张三"}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67512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作者：乔瑞浩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61488" y="1600200"/>
            <a:ext cx="2157984" cy="3017520"/>
          </a:xfrm>
          <a:prstGeom prst="roundRect">
            <a:avLst>
              <a:gd name="adj" fmla="val 2542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926080" y="17830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926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26080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generate_json_pydantic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类型安全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prompt + BaseModel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{"name":"张三"}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作者：张倬铭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0056" y="1600200"/>
            <a:ext cx="2157984" cy="3017520"/>
          </a:xfrm>
          <a:prstGeom prst="roundRect">
            <a:avLst>
              <a:gd name="adj" fmla="val 2542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184648" y="17830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84648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84648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generate_label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84648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分类标签约束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4648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prompt + labels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"defective"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84648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作者：乔瑞浩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78624" y="1600200"/>
            <a:ext cx="2157984" cy="3017520"/>
          </a:xfrm>
          <a:prstGeom prst="roundRect">
            <a:avLst>
              <a:gd name="adj" fmla="val 2542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443216" y="17830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44321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43216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generate_value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43216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 + 结论输出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43216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prompt + schema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{"area":12.5}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443216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作者：乔瑞浩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537192" y="1600200"/>
            <a:ext cx="2157984" cy="3017520"/>
          </a:xfrm>
          <a:prstGeom prst="roundRect">
            <a:avLst>
              <a:gd name="adj" fmla="val 2542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701784" y="1783080"/>
            <a:ext cx="384048" cy="38404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70178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01784" y="2286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generate_diff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701784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 Diff 补丁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01784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prompt + code</a:t>
            </a:r>
            <a:endParaRPr lang="en-US" sz="1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unified diff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01784" y="4206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作者：乔瑞浩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489204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 · 接口统一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所有函数支持 retries 参数（默认 3 次），50 次批量测试 100% 通过。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1520" y="58704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调度员调用示例：  result = generate_json(prompt, schema)   # 一行代码搞定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三套部署方案：云端 → 边缘 → NPU 正式部署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26664"/>
                <a:gridCol w="3026664"/>
                <a:gridCol w="302666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WSL 版 (fp16)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Ollama 版 (q4)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llama.cpp 约束解码版 (q4)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6.2 GB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0.14 GB 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 GB 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1.65 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0.37 s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&lt; 1 s (NPU)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~95%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输出干净率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硬件要求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 ≥ 8GB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仅需 CPU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RK3588 NPU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适用场景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云端高精度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边缘低功耗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正式部署（RK3588）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 ≤1.5GB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FAIL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A5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A5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PASS ✅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623560"/>
            <a:ext cx="11183112" cy="777240"/>
          </a:xfrm>
          <a:prstGeom prst="roundRect">
            <a:avLst>
              <a:gd name="adj" fmla="val 7059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主文件 sglang_1_1_module.py 已适配 RK3588（llama.cpp/Ollama 约束解码 + 动态控制 + CPU 兜底），同一套 5 个 API，调度员无需关心底层用哪个版本。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为什么需要模型运行时动态控制？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115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三核异构（CPU + GPU + NPU）· 4GB 统一内存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4GB 统一内存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模型权重 + 系统 + 运行时共享 4GB，推理时内存随时可能紧张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28416" y="17830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11296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6 TOPS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11296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高负载连续推理会发热，需要控温控频，防止过热降频或死机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53912" y="17830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36792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室内空调环境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36792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散热条件尚可，但持续满载仍会升温，需要主动干预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979408" y="1783080"/>
            <a:ext cx="2697480" cy="2194560"/>
          </a:xfrm>
          <a:prstGeom prst="roundRect">
            <a:avLst>
              <a:gd name="adj" fmla="val 2500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62288" y="19659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偶发请求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62288" y="256032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调度请求偶发，不能常驻监控线程 —— 需请求触发式采集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11183112" cy="1417320"/>
          </a:xfrm>
          <a:prstGeom prst="roundRect">
            <a:avLst>
              <a:gd name="adj" fmla="val 3871"/>
            </a:avLst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526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结论：需要一个动态控制层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495604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 NPU 使用率 / 芯片温度 / 内存占用，实时自动调节：推理后端（NPU / CPU / 拒绝）、上下文长度、max_tokens、NPU 频率。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动态控制系统架构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21208" y="111556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每次请求自动执行：采集 → 决策 → 执行 → 路由 → 推理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6517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6517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调度员 2.1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01368" y="269748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40280" y="1920240"/>
            <a:ext cx="2286000" cy="2103120"/>
          </a:xfrm>
          <a:prstGeom prst="roundRect">
            <a:avLst>
              <a:gd name="adj" fmla="val 2609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404872" y="2084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04872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04872" y="288036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 / 频率 / 内存 / NPU 使用率（sysfs）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46320" y="1920240"/>
            <a:ext cx="2286000" cy="2103120"/>
          </a:xfrm>
          <a:prstGeom prst="roundRect">
            <a:avLst>
              <a:gd name="adj" fmla="val 2609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10912" y="2084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10912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10912" y="288036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级状态机 + 滞回控制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50608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452360" y="1920240"/>
            <a:ext cx="2286000" cy="2103120"/>
          </a:xfrm>
          <a:prstGeom prst="roundRect">
            <a:avLst>
              <a:gd name="adj" fmla="val 2609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616952" y="2084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Actuator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16952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16952" y="288036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 NPU 频率 / 切后端 / 调参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756648" y="26974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058400" y="1920240"/>
            <a:ext cx="2286000" cy="2103120"/>
          </a:xfrm>
          <a:prstGeom prst="roundRect">
            <a:avLst>
              <a:gd name="adj" fmla="val 2609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222992" y="2084832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22992" y="2468880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222992" y="2880360"/>
            <a:ext cx="19568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约束解码 / CPU 兜底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4389120"/>
            <a:ext cx="11183112" cy="914400"/>
          </a:xfrm>
          <a:prstGeom prst="roundRect">
            <a:avLst>
              <a:gd name="adj" fmla="val 6000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3152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DynamicController 统一入口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9560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 4 步 &lt; 1ms · 请求触发（无后台线程）· 单后端驻留（4GB 内存约束，NPU 为主 + CPU 兜底）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四级状态机 + 滞回控制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四级状态机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2EA56D"/>
          </a:solidFill>
          <a:ln w="12700">
            <a:solidFill>
              <a:srgbClr val="2EA56D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029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359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2057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 &lt; 10%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0090B0"/>
          </a:solidFill>
          <a:ln w="12700">
            <a:solidFill>
              <a:srgbClr val="0090B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3081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4107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正常推理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常规负载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4133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462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23160" y="41605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NPU&gt;90% 或 温度&gt;65°C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234440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1737360" cy="777240"/>
          </a:xfrm>
          <a:prstGeom prst="roundRect">
            <a:avLst>
              <a:gd name="adj" fmla="val 705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51846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55138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23160" y="5212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温度&gt;75°C 或 内存&lt;300MB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350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滞回控制（防抖动）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5040" y="1920240"/>
            <a:ext cx="5650992" cy="1234440"/>
          </a:xfrm>
          <a:prstGeom prst="roundRect">
            <a:avLst>
              <a:gd name="adj" fmla="val 4444"/>
            </a:avLst>
          </a:prstGeom>
          <a:solidFill>
            <a:srgbClr val="FFF6F0"/>
          </a:solidFill>
          <a:ln w="12700">
            <a:solidFill>
              <a:srgbClr val="F08A2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20848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E639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▲ 升级即时生效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468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检测到过热/过载，立即降载保护硬件，不等稳定时间。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0" y="3337560"/>
            <a:ext cx="5650992" cy="1234440"/>
          </a:xfrm>
          <a:prstGeom prst="roundRect">
            <a:avLst>
              <a:gd name="adj" fmla="val 4444"/>
            </a:avLst>
          </a:prstGeom>
          <a:solidFill>
            <a:srgbClr val="F1FAF5"/>
          </a:solidFill>
          <a:ln w="12700">
            <a:solidFill>
              <a:srgbClr val="2EA56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263640" y="35021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降级需稳定 30 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6364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指标回落后需持续 30s 才恢复更高档位，避免阈值附近反复横跳。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35040" y="4754880"/>
            <a:ext cx="5650992" cy="1234440"/>
          </a:xfrm>
          <a:prstGeom prst="roundRect">
            <a:avLst>
              <a:gd name="adj" fmla="val 4444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49194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阈值可配置（环境变量覆盖）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63640" y="53035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RK3588_TEMP_WARN_C=65 · TEMP_CRIT=75 · MEM_WARN=0.6GB · STABILITY_SEC=30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决策对照表（6 场景）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8311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51560"/>
                <a:gridCol w="1234440"/>
                <a:gridCol w="1234440"/>
                <a:gridCol w="1600200"/>
                <a:gridCol w="1371600"/>
                <a:gridCol w="1234440"/>
                <a:gridCol w="1234440"/>
                <a:gridCol w="9601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NPU%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Context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Tokens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频率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45°C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A56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NORMAL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2048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NPU 过载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55°C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8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WARNING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温度告警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68°C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08A2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WARNING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614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mid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内存不足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50°C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CRITICAL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512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low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 过热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86°C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1.0GB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CRITICAL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394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拒绝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空闲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40°C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2.0GB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90B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NPU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2048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high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486400"/>
            <a:ext cx="11183112" cy="868680"/>
          </a:xfrm>
          <a:prstGeom prst="roundRect">
            <a:avLst>
              <a:gd name="adj" fmla="val 6316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73152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同一张表就是 Evaluator 的决策依据：NORMAL 用 NPU 全规格，WARNING 降 context/tokens/频率，CRITICAL 切 CPU 或拒绝，IDLE 恢复全规格。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 + 批量稳定性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A25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原有测试（5 API）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单元测试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21488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单元测试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5786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57860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083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验证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00837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083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43814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批量稳定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34381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34381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8679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Ollama 批量稳定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8679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 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386791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08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场景（工业+交通）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4297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08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1554480"/>
            <a:ext cx="5394960" cy="3246120"/>
          </a:xfrm>
          <a:prstGeom prst="roundRect">
            <a:avLst>
              <a:gd name="adj" fmla="val 1690"/>
            </a:avLst>
          </a:prstGeom>
          <a:solidFill>
            <a:srgbClr val="EAF7FA"/>
          </a:solidFill>
          <a:ln w="12700">
            <a:solidFill>
              <a:srgbClr val="0090B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53796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9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动态控制测试（新增）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3796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集成测试（8 用例）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966960" y="2148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场景决策演示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96696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154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阈值环境变量覆盖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66960" y="3154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滞回防抖验证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966960" y="3657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3796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B2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跨平台采集（温度/频率/内存）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966960" y="4160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2920" y="5029200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2920" y="51389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 ≤1.5GB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2920" y="55046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2761488" y="5029200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761488" y="51389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输出干净率 100%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761488" y="55046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020056" y="5029200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0056" y="51389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动态调控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20056" y="55046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7278624" y="5029200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278624" y="51389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崩溃率 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278624" y="55046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9537192" y="5029200"/>
            <a:ext cx="2157984" cy="1005840"/>
          </a:xfrm>
          <a:prstGeom prst="roundRect">
            <a:avLst>
              <a:gd name="adj" fmla="val 5455"/>
            </a:avLst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537192" y="513892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自动重试 3 次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537192" y="5504688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84048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EA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完成的工作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 API 函数（JSON/Label/Value/Diff/Pydantic）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套部署方案（WSL / Ollama / llama.cpp 约束解码）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动态控制系统（状态机 + 滞回）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 单元测试 · 全通过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RK3588 适配（llama.cpp/Ollama 约束解码 + CPU 兜底）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88536" y="16002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17136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B4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🔬 创新点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17136" y="228600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约束在生成阶段介入（非后处理）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动态控制：按 NPU/温度/内存实时调参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三平台全覆盖，统一 API 无感切换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量化方案使边缘 NPU 部署成为可能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请求触发监控，无后台线程开销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74152" y="1600200"/>
            <a:ext cx="3611880" cy="4206240"/>
          </a:xfrm>
          <a:prstGeom prst="roundRect">
            <a:avLst>
              <a:gd name="adj" fmla="val 1519"/>
            </a:avLst>
          </a:prstGeom>
          <a:solidFill>
            <a:srgbClr val="0E3358"/>
          </a:solidFill>
          <a:ln w="12700">
            <a:solidFill>
              <a:srgbClr val="0E335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02752" y="1783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08A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🔜 下一步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02752" y="2286000"/>
            <a:ext cx="31546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板子到手 → 部署 llama.cpp/Ollama + .gguf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上板验证 Monitor 采集（sysfs）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对接调度员 2.1 联调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按实际工况调阈值</a:t>
            </a:r>
            <a:endParaRPr lang="en-US" sz="130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准备终审擂台赛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598932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谢谢！欢迎提问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2026-08-15T19:10:50Z</dcterms:created>
  <dcterms:modified xsi:type="dcterms:W3CDTF">2026-08-15T19:10:50Z</dcterms:modified>
</cp:coreProperties>
</file>